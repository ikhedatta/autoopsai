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253483">
              <a:alpha val="50000"/>
            </a:srgbClr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74320"/>
            <a:ext cx="2011680" cy="2011680"/>
          </a:xfrm>
          <a:prstGeom prst="ellipse">
            <a:avLst/>
          </a:prstGeom>
          <a:solidFill>
            <a:srgbClr val="00BFA6">
              <a:alpha val="25000"/>
            </a:srgbClr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474720"/>
            <a:ext cx="1371600" cy="1371600"/>
          </a:xfrm>
          <a:prstGeom prst="ellipse">
            <a:avLst/>
          </a:prstGeom>
          <a:solidFill>
            <a:srgbClr val="4A9FD4">
              <a:alpha val="3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28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A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PRESENTATION   | 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144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AutoOpsAI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7432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Autonomous DevOps Engineer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5029200" cy="36576"/>
          </a:xfrm>
          <a:prstGeom prst="rect">
            <a:avLst/>
          </a:prstGeom>
          <a:solidFill>
            <a:srgbClr val="3E5294"/>
          </a:solidFill>
          <a:ln w="12700">
            <a:solidFill>
              <a:srgbClr val="3E52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803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autonomous DevOps — secure, private, and built for enterprise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   |   March 2026   |   Business Sign-off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193852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1938528" cy="822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53312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8836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 Queue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496312"/>
            <a:ext cx="1719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raise DevOps requests for routine dev environment issues — creating backlogs that consume critical engineer bandwidth.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1170432"/>
            <a:ext cx="193852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70432"/>
            <a:ext cx="1938528" cy="8229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353312"/>
            <a:ext cx="438912" cy="43891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24328" y="18836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Root Cause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2496312"/>
            <a:ext cx="1719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spend 2–4 hours on RCAs that should take minutes. Learnings are never captured for future incidents.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70432"/>
            <a:ext cx="193852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70432"/>
            <a:ext cx="1938528" cy="822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53312"/>
            <a:ext cx="438912" cy="43891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73168" y="18836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Fatigue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Toil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73168" y="2496312"/>
            <a:ext cx="1719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investigation of the same failure patterns drains productivity. High-value engineers perform low-value work.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170432"/>
            <a:ext cx="1938528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170432"/>
            <a:ext cx="1938528" cy="8229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353312"/>
            <a:ext cx="438912" cy="43891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22008" y="1883664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Doesn't Scale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Dev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22008" y="2496312"/>
            <a:ext cx="17190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DevOps processes that work in dev environments break down completely at staging and production fleet scale.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977640"/>
            <a:ext cx="841248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977640"/>
            <a:ext cx="73152" cy="74980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977640"/>
            <a:ext cx="8092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skilled DevOps engineers are stuck fire-fighting — instead of building resilient, scalable systems.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Have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manual DevOps lifecycle — before AutoOpsAI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" y="1417320"/>
            <a:ext cx="1481328" cy="9601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6344" y="1490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Raises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6344" y="2130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Jira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47672" y="1869948"/>
            <a:ext cx="146304" cy="5486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805940"/>
            <a:ext cx="64008" cy="18288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417320"/>
            <a:ext cx="148132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490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130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30168" y="1869948"/>
            <a:ext cx="146304" cy="5486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9896" y="1805940"/>
            <a:ext cx="64008" cy="18288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31336" y="1417320"/>
            <a:ext cx="148132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31336" y="1490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2–4 Hours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31336" y="2130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toil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12664" y="1869948"/>
            <a:ext cx="146304" cy="5486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22392" y="1805940"/>
            <a:ext cx="64008" cy="18288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13832" y="1417320"/>
            <a:ext cx="148132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13832" y="1490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13832" y="2130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script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1869948"/>
            <a:ext cx="146304" cy="54864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04888" y="1805940"/>
            <a:ext cx="64008" cy="182880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1417320"/>
            <a:ext cx="1481328" cy="9601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96328" y="149047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Learning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96328" y="2130552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2688336"/>
            <a:ext cx="256032" cy="25603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2633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investigation time: 2–4 hours per incident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2688336"/>
            <a:ext cx="256032" cy="25603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2352" y="26334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RCA knowledge base built over 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218688"/>
            <a:ext cx="256032" cy="25603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3163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issues recur — no systematic root-cause prevention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218688"/>
            <a:ext cx="256032" cy="25603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163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becomes a bottleneck for every development team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4434840"/>
            <a:ext cx="8412480" cy="438912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498848"/>
            <a:ext cx="274320" cy="27432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868680" y="443484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is unsustainable — and fails to scale beyond development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AutoOpsAI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82296" cy="84124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8092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AutoOpsAI is an AI-powered virtual DevOps engineer — it autonomously monitors infrastructure, diagnoses issues in plain English, obtains human approval for risky fixes, and executes remediation, all in a continuous self-healing loop.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214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6-STEP AUTONOMOUS 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2376" y="2852928"/>
            <a:ext cx="7699248" cy="91440"/>
          </a:xfrm>
          <a:prstGeom prst="rect">
            <a:avLst/>
          </a:prstGeom>
          <a:solidFill>
            <a:srgbClr val="D4E4F5"/>
          </a:solidFill>
          <a:ln w="12700">
            <a:solidFill>
              <a:srgbClr val="D4E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542032"/>
            <a:ext cx="713232" cy="71323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670048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334670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7744" y="367588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05610" y="2542032"/>
            <a:ext cx="713232" cy="71323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626" y="26700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95882" y="334670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777594" y="367588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445459" y="2542032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475" y="267004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35731" y="334670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317443" y="367588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plain-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RCA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985309" y="2542032"/>
            <a:ext cx="713232" cy="713232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325" y="267004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75581" y="334670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857293" y="367588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human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525158" y="2542032"/>
            <a:ext cx="713232" cy="7132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174" y="267004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15430" y="334670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6397142" y="367588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run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065008" y="2542032"/>
            <a:ext cx="713232" cy="713232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3024" y="2670048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955280" y="3346704"/>
            <a:ext cx="932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7936992" y="367588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fix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escalates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3035808" y="4160520"/>
            <a:ext cx="1691640" cy="301752"/>
          </a:xfrm>
          <a:prstGeom prst="rect">
            <a:avLst/>
          </a:prstGeom>
          <a:solidFill>
            <a:srgbClr val="E0FFF8"/>
          </a:solidFill>
          <a:ln w="15240">
            <a:solidFill>
              <a:srgbClr val="00BFA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3035808" y="4160520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required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continuously — every incident is monitored, diagnosed, approved (where needed), resolved, and learned from.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64008" cy="89611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17320"/>
            <a:ext cx="402336" cy="40233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24358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24128" y="1517904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watches infrastructure metrics, container health, disk usage, network traffic and application logs via Prometheus &amp; cAdvisor. Every resource emits real-time telemetry.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70432"/>
            <a:ext cx="64008" cy="89611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1417320"/>
            <a:ext cx="402336" cy="40233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0368" y="124358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30368" y="1517904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and threshold rules trigger investigation when something falls outside normal parameters — no manual alert triage required.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6771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67712"/>
            <a:ext cx="64008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251460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234086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24128" y="2615184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Ollama LLM (Llama3 / Mistral / Codellama) synthesises metrics, logs and event history into a structured plain-English Root Cause Analysis with supporting evidence.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26771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267712"/>
            <a:ext cx="64008" cy="89611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2514600"/>
            <a:ext cx="402336" cy="40233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514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30368" y="234086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30368" y="2615184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risky action, an MS Teams Adaptive Card is delivered with full context — the engineer approves or denies with one click. Low-risk actions proceed automatically.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36499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364992"/>
            <a:ext cx="64008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" y="36118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4128" y="34381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4128" y="3712464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playbooks execute the approved remediation — restart service, scale container, clear disk, rotate logs, and 6 more action types — via Docker SDK or Kubernetes client.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3364992"/>
            <a:ext cx="39776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364992"/>
            <a:ext cx="64008" cy="89611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3611880"/>
            <a:ext cx="402336" cy="40233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30368" y="343814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30368" y="3712464"/>
            <a:ext cx="3227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Post-fix metrics confirm resolution. If the issue persists, AutoOpsAI escalates immediately with enriched context. All outcomes are persisted to PostgreSQL for trend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53483">
              <a:alpha val="45000"/>
            </a:srgbClr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53483">
              <a:alpha val="40000"/>
            </a:srgbClr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 &amp; Security by Design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enterprise differentiator — not an afterthought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2578608" cy="2331720"/>
          </a:xfrm>
          <a:prstGeom prst="rect">
            <a:avLst/>
          </a:prstGeom>
          <a:solidFill>
            <a:srgbClr val="253483">
              <a:alpha val="75000"/>
            </a:srgbClr>
          </a:solidFill>
          <a:ln w="12700">
            <a:solidFill>
              <a:srgbClr val="3E529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36192"/>
            <a:ext cx="2578608" cy="822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49324" y="1737360"/>
            <a:ext cx="594360" cy="5943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0764" y="182880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4688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On-Premises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907792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AutoOpsAI runs entirely within your network perimeter. No SaaS dependencies. No external API calls. Your infrastructure data never leaves the building.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82696" y="1536192"/>
            <a:ext cx="2578608" cy="2331720"/>
          </a:xfrm>
          <a:prstGeom prst="rect">
            <a:avLst/>
          </a:prstGeom>
          <a:solidFill>
            <a:srgbClr val="253483">
              <a:alpha val="75000"/>
            </a:srgbClr>
          </a:solidFill>
          <a:ln w="12700">
            <a:solidFill>
              <a:srgbClr val="3E529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82696" y="1536192"/>
            <a:ext cx="2578608" cy="8229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4820" y="1737360"/>
            <a:ext cx="594360" cy="59436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182880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92424" y="24688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Air-Gapped LLM Inference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419856" y="2907792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reasoning is performed by a local Ollama instance (Llama3 / Mistral / Codellama). Zero cloud LLM calls — not even metadata.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08192" y="1536192"/>
            <a:ext cx="2578608" cy="2331720"/>
          </a:xfrm>
          <a:prstGeom prst="rect">
            <a:avLst/>
          </a:prstGeom>
          <a:solidFill>
            <a:srgbClr val="253483">
              <a:alpha val="75000"/>
            </a:srgbClr>
          </a:solidFill>
          <a:ln w="12700">
            <a:solidFill>
              <a:srgbClr val="3E529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08192" y="1536192"/>
            <a:ext cx="2578608" cy="82296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00316" y="1737360"/>
            <a:ext cx="594360" cy="59436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182880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46888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Approval-First Safety Architecture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45352" y="2907792"/>
            <a:ext cx="2304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remediation actions are gated behind explicit human sign-off. The system cannot execute without consent for high-impact operations.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65760" y="4069080"/>
            <a:ext cx="8412480" cy="71323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548640" y="406908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infrastructure data NEVER leaves the network. AutoOpsAI is purpose-built for regulated and sensitive enterprise environments.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 Teams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 where engineers work — no context switching required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81328"/>
            <a:ext cx="274320" cy="27432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In-context approvals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70078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receive structured approval cards directly in MS Teams — no context switching, no new tools to learn.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395728"/>
            <a:ext cx="274320" cy="27432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304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incident 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61518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includes: detected issue, LLM-generated RCA, proposed action, affected resources, and risk level.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10128"/>
            <a:ext cx="274320" cy="27432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One-click decision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352958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Deny with a single click. AutoOpsAI acts immediately on approval, or escalates on denial.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224528"/>
            <a:ext cx="274320" cy="27432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1330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4443984"/>
            <a:ext cx="3657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with timestamp, approver identity, and outcome — fully auditable and compliant.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1353312"/>
            <a:ext cx="3886200" cy="342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D8E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353312"/>
            <a:ext cx="3886200" cy="384048"/>
          </a:xfrm>
          <a:prstGeom prst="rect">
            <a:avLst/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08176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30952" y="14081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AutoOpsAI   |   Action Required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01768" y="1828800"/>
            <a:ext cx="3666744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01768" y="1828800"/>
            <a:ext cx="3666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— APPROVAL NEEDED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56632" y="2039112"/>
            <a:ext cx="35570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api-gateway memory &gt;92%
</a:t>
            </a:r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RCA: </a:t>
            </a:r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in v2.3.1 — GC not releasing heap
</a:t>
            </a:r>
            <a:pPr algn="l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</a:t>
            </a:r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container api-gateway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01768" y="3054096"/>
            <a:ext cx="3666744" cy="18288"/>
          </a:xfrm>
          <a:prstGeom prst="rect">
            <a:avLst/>
          </a:prstGeom>
          <a:solidFill>
            <a:srgbClr val="E0E8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56632" y="3136392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 </a:t>
            </a:r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 </a:t>
            </a:r>
            <a:pPr algn="l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Downtime: ~30 sec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056632" y="3639312"/>
            <a:ext cx="1645920" cy="38404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56632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922008" y="3639312"/>
            <a:ext cx="1645920" cy="384048"/>
          </a:xfrm>
          <a:prstGeom prst="rect">
            <a:avLst/>
          </a:prstGeom>
          <a:solidFill>
            <a:srgbClr val="EEF3FA"/>
          </a:solidFill>
          <a:ln w="12700">
            <a:solidFill>
              <a:srgbClr val="C0CCD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2008" y="3639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01768" y="4224528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by AutoOpsAI Engine  |  2026-03-31 09:14:22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Capabilities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64008" cy="1572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70535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5107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3167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Diagnosis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70432" y="171907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synthesises metrics, logs and events into structured plain-English RCA — no manual log-trawling required.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1170432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72968" y="1170432"/>
            <a:ext cx="64008" cy="157276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1705356"/>
            <a:ext cx="502920" cy="50292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75107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3167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Playbook Execution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977640" y="171907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pre-built YAML playbook action types: restart, scale, clear disk, rotate logs, kill process, and more — extensible by your team.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0176" y="1170432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0176" y="1170432"/>
            <a:ext cx="64008" cy="157276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44768" y="1705356"/>
            <a:ext cx="502920" cy="50292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751076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84848" y="13167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Approval-First Safety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84848" y="171907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actions gated by human sign-off via MS Teams Adaptive Cards. Engineers stay in control without slowing resolution.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" y="29260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926080"/>
            <a:ext cx="64008" cy="15727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52" y="346100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06724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70432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Air-Gapped Privacy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170432" y="3474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inference runs on-premises via Ollama. No cloud API calls. No data exfiltration. Safe for regulated environments.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172968" y="29260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72968" y="2926080"/>
            <a:ext cx="64008" cy="157276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337560" y="3461004"/>
            <a:ext cx="502920" cy="502920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506724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77640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Multi-Provider Support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977640" y="3474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Docker SDK and Kubernetes client. Scales seamlessly from dev containers to production cluster fleets.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980176" y="29260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980176" y="2926080"/>
            <a:ext cx="64008" cy="157276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144768" y="3461004"/>
            <a:ext cx="502920" cy="502920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506724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84848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Learning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784848" y="3474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and resolution is persisted to PostgreSQL. Trend analysis surfaces recurring patterns and improves future diagnoses.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outcomes based on implementation scope and industry benchmarks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192024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620" y="1417320"/>
            <a:ext cx="192024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" y="1618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80060" y="27157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MTTR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" y="32826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37460" y="1417320"/>
            <a:ext cx="192024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7460" y="1417320"/>
            <a:ext cx="1920240" cy="914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7460" y="1618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4A9F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2628900" y="27157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Auto-Resolved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10612" y="32826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engineer 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6300" y="1417320"/>
            <a:ext cx="192024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6300" y="1417320"/>
            <a:ext cx="1920240" cy="914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6300" y="1618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4+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686300" y="23500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77740" y="27157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Saved 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9452" y="32826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35140" y="1417320"/>
            <a:ext cx="1920240" cy="2395728"/>
          </a:xfrm>
          <a:prstGeom prst="rect">
            <a:avLst/>
          </a:prstGeom>
          <a:solidFill>
            <a:srgbClr val="FFFFFF"/>
          </a:solidFill>
          <a:ln w="1905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5140" y="1417320"/>
            <a:ext cx="19202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5140" y="16184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5600" dirty="0"/>
          </a:p>
        </p:txBody>
      </p:sp>
      <p:sp>
        <p:nvSpPr>
          <p:cNvPr id="24" name="Text 22"/>
          <p:cNvSpPr/>
          <p:nvPr/>
        </p:nvSpPr>
        <p:spPr>
          <a:xfrm>
            <a:off x="6926580" y="271576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8292" y="328269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privacy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841248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05072"/>
            <a:ext cx="73152" cy="80467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05072"/>
            <a:ext cx="8092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AutoOpsAI transforms DevOps from a reactive cost centre into a proactive, self-healing infrastructure function — at any scale.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from development environments to full production fleet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6052" y="1143000"/>
            <a:ext cx="26060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6052" y="1143000"/>
            <a:ext cx="2606040" cy="105156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" y="1252728"/>
            <a:ext cx="2386584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" y="1252728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492" y="15270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0644" y="2386584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restart of crashed dev containers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" y="2834640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" y="2761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space clean-up &amp; log rotation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0644" y="3282696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" y="3209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conflict detection &amp; resolution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" y="3730752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 failure diagnosis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80644" y="4178808"/>
            <a:ext cx="201168" cy="20116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" y="4105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conflict RCA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" y="4453128"/>
            <a:ext cx="2606040" cy="329184"/>
          </a:xfrm>
          <a:prstGeom prst="rect">
            <a:avLst/>
          </a:prstGeom>
          <a:solidFill>
            <a:srgbClr val="00BFA6">
              <a:alpha val="15000"/>
            </a:srgbClr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" y="44531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in Phase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8980" y="1143000"/>
            <a:ext cx="26060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8980" y="1143000"/>
            <a:ext cx="2606040" cy="105156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78708" y="1252728"/>
            <a:ext cx="2386584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8708" y="1252728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NEAR-TERM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0420" y="15270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Staging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Clusters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33572" y="2386584"/>
            <a:ext cx="201168" cy="20116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6180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Pre-release regression incident triage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33572" y="2834640"/>
            <a:ext cx="201168" cy="20116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26180" y="2761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anomaly investigation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33572" y="3282696"/>
            <a:ext cx="201168" cy="20116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6180" y="3209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drift detection &amp; correction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33572" y="3730752"/>
            <a:ext cx="201168" cy="20116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26180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connectivity diagnosis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33572" y="4178808"/>
            <a:ext cx="201168" cy="20116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6180" y="4105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scaling automation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68980" y="4453128"/>
            <a:ext cx="2606040" cy="329184"/>
          </a:xfrm>
          <a:prstGeom prst="rect">
            <a:avLst/>
          </a:prstGeom>
          <a:solidFill>
            <a:srgbClr val="4A9FD4">
              <a:alpha val="15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8980" y="44531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expansion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1908" y="1143000"/>
            <a:ext cx="26060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1908" y="1143000"/>
            <a:ext cx="260604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1636" y="1252728"/>
            <a:ext cx="2386584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1636" y="1252728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SCALE-UP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3348" y="15270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86500" y="238658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910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autonomous production monitoring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86500" y="283464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9108" y="27614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Kubernetes remediation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86500" y="328269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79108" y="3209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prevention &amp; auto-healing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86500" y="373075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9108" y="3657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pattern learning &amp; prevention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86500" y="417880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79108" y="41056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audit trail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21908" y="4453128"/>
            <a:ext cx="2606040" cy="329184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1908" y="44531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2–3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Advantage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AutoOpsAI fundamentally different from generic monitoring and AIOps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1417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AIOps Tools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AutoOpsAI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3794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Inference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83794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APIs (OpenAI, Gemini, Bedrock)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1856232"/>
            <a:ext cx="3182112" cy="438912"/>
          </a:xfrm>
          <a:prstGeom prst="rect">
            <a:avLst/>
          </a:prstGeom>
          <a:solidFill>
            <a:srgbClr val="E0FFF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85623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Ollama — fully on-premises, air-gapped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8412480" cy="548640"/>
          </a:xfrm>
          <a:prstGeom prst="rect">
            <a:avLst/>
          </a:prstGeom>
          <a:solidFill>
            <a:srgbClr val="EEF3FA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865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38658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data leaves the network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2404872"/>
            <a:ext cx="3182112" cy="438912"/>
          </a:xfrm>
          <a:prstGeom prst="rect">
            <a:avLst/>
          </a:prstGeom>
          <a:solidFill>
            <a:srgbClr val="E0FFF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40487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exfiltration — stays on-prem always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89864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35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293522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 or manual ticket-based workflows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2953512"/>
            <a:ext cx="3182112" cy="438912"/>
          </a:xfrm>
          <a:prstGeom prst="rect">
            <a:avLst/>
          </a:prstGeom>
          <a:solidFill>
            <a:srgbClr val="E0FFF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95351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Card approval via MS Teams before risky 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47288"/>
            <a:ext cx="8412480" cy="548640"/>
          </a:xfrm>
          <a:prstGeom prst="rect">
            <a:avLst/>
          </a:prstGeom>
          <a:solidFill>
            <a:srgbClr val="EEF3FA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8386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Remediation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31720" y="348386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only — engineer must act manually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3502152"/>
            <a:ext cx="3182112" cy="438912"/>
          </a:xfrm>
          <a:prstGeom prst="rect">
            <a:avLst/>
          </a:prstGeom>
          <a:solidFill>
            <a:srgbClr val="E0FFF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5021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execution via YAML playbooks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99592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3250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403250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or complex enterprise contracts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32120" y="4050792"/>
            <a:ext cx="3182112" cy="438912"/>
          </a:xfrm>
          <a:prstGeom prst="rect">
            <a:avLst/>
          </a:prstGeom>
          <a:solidFill>
            <a:srgbClr val="E0FFF8"/>
          </a:solidFill>
          <a:ln w="10160">
            <a:solidFill>
              <a:srgbClr val="00BF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405079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FastAPI + PostgreSQL — no vendor dependency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Phased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901952"/>
            <a:ext cx="8412480" cy="73152"/>
          </a:xfrm>
          <a:prstGeom prst="rect">
            <a:avLst/>
          </a:prstGeom>
          <a:solidFill>
            <a:srgbClr val="D4E4F5"/>
          </a:solidFill>
          <a:ln w="12700">
            <a:solidFill>
              <a:srgbClr val="D4E4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7028" y="1792224"/>
            <a:ext cx="292608" cy="292608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3212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" y="221284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3212" y="2212848"/>
            <a:ext cx="1920240" cy="77724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" y="22494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6364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Approval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" y="3154680"/>
            <a:ext cx="128016" cy="12801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" y="3090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autonomous loop (all 6 steps)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2940" y="3438144"/>
            <a:ext cx="128016" cy="12801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" y="3374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 approval integration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" y="3721608"/>
            <a:ext cx="128016" cy="12801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" y="36576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SDK provider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2940" y="4005072"/>
            <a:ext cx="128016" cy="12801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" y="3941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on-prem setup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2940" y="4288536"/>
            <a:ext cx="128016" cy="12801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" y="4224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YAML playbook types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2940" y="4572000"/>
            <a:ext cx="128016" cy="128016"/>
          </a:xfrm>
          <a:prstGeom prst="ellipse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" y="45079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audit store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6140" y="1792224"/>
            <a:ext cx="292608" cy="292608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92324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92324" y="221284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92324" y="2212848"/>
            <a:ext cx="1920240" cy="7772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83764" y="22494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65476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Stabilise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Expand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02052" y="3154680"/>
            <a:ext cx="128016" cy="12801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4932" y="3090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provider integration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02052" y="3438144"/>
            <a:ext cx="128016" cy="12801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4932" y="3374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alerting rules library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02052" y="3721608"/>
            <a:ext cx="128016" cy="12801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84932" y="36576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playbook coverage (20+)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02052" y="4005072"/>
            <a:ext cx="128016" cy="12801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4932" y="3941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 UI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02052" y="4288536"/>
            <a:ext cx="128016" cy="12801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84932" y="4224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environment deployment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02052" y="4572000"/>
            <a:ext cx="128016" cy="128016"/>
          </a:xfrm>
          <a:prstGeom prst="ellipse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4932" y="45079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feedback loop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45252" y="1792224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31436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31436" y="221284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31436" y="2212848"/>
            <a:ext cx="1920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22876" y="22494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04588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741164" y="3154680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24044" y="3090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fleet onboarding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41164" y="3438144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4044" y="3374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RBAC controls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41164" y="3721608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4044" y="36576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monitoring &amp; alerting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41164" y="4005072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4044" y="3941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audit exports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41164" y="4288536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4044" y="4224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regression testing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41164" y="4572000"/>
            <a:ext cx="128016" cy="12801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4044" y="45079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484364" y="1792224"/>
            <a:ext cx="292608" cy="292608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670548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2026+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670548" y="2212848"/>
            <a:ext cx="192024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670548" y="2212848"/>
            <a:ext cx="1920240" cy="777240"/>
          </a:xfrm>
          <a:prstGeom prst="rect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1988" y="22494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43700" y="2487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780276" y="3154680"/>
            <a:ext cx="128016" cy="128016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63156" y="309067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playbook generation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780276" y="3438144"/>
            <a:ext cx="128016" cy="128016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63156" y="337413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incident prevention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780276" y="3721608"/>
            <a:ext cx="128016" cy="128016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63156" y="365760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orchestration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780276" y="4005072"/>
            <a:ext cx="128016" cy="128016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63156" y="394106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productisation option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780276" y="4288536"/>
            <a:ext cx="128016" cy="128016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63156" y="42245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third-party integration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6780276" y="4572000"/>
            <a:ext cx="128016" cy="128016"/>
          </a:xfrm>
          <a:prstGeom prst="ellipse">
            <a:avLst/>
          </a:prstGeom>
          <a:solidFill>
            <a:srgbClr val="253483"/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63156" y="45079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SLA &amp; support tier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253483">
              <a:alpha val="45000"/>
            </a:srgbClr>
          </a:solidFill>
          <a:ln w="12700">
            <a:solidFill>
              <a:srgbClr val="2534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20040"/>
            <a:ext cx="64008" cy="685800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 &amp; Next Steps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seeking business approval to proceed with implementation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804672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81328"/>
            <a:ext cx="82296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81328"/>
            <a:ext cx="8092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AutoOpsAI — Phase 0 implementation beginning with development environment autonomous operations.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6052" y="2487168"/>
            <a:ext cx="2606040" cy="1572768"/>
          </a:xfrm>
          <a:prstGeom prst="rect">
            <a:avLst/>
          </a:prstGeom>
          <a:solidFill>
            <a:srgbClr val="253483"/>
          </a:solidFill>
          <a:ln w="12700">
            <a:solidFill>
              <a:srgbClr val="3E529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" y="2487168"/>
            <a:ext cx="2606040" cy="38404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 Week 1–2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5780" y="294436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Setup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" y="331012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 deployed on-premises. Prometheus + cAdvisor monitoring configured. MS Teams webhook integration established.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68980" y="2487168"/>
            <a:ext cx="2606040" cy="1572768"/>
          </a:xfrm>
          <a:prstGeom prst="rect">
            <a:avLst/>
          </a:prstGeom>
          <a:solidFill>
            <a:srgbClr val="253483"/>
          </a:solidFill>
          <a:ln w="12700">
            <a:solidFill>
              <a:srgbClr val="3E529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8980" y="2487168"/>
            <a:ext cx="2606040" cy="384048"/>
          </a:xfrm>
          <a:prstGeom prst="rect">
            <a:avLst/>
          </a:prstGeom>
          <a:solidFill>
            <a:srgbClr val="00BFA6"/>
          </a:solidFill>
          <a:ln w="12700">
            <a:solidFill>
              <a:srgbClr val="00B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0420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 Week 3–4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8708" y="294436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Environment Pilot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78708" y="331012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AutoOpsAI loop activated on dev containers. Engineers interact via Teams approval cards. First autonomous incident resolved.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1908" y="2487168"/>
            <a:ext cx="2606040" cy="1572768"/>
          </a:xfrm>
          <a:prstGeom prst="rect">
            <a:avLst/>
          </a:prstGeom>
          <a:solidFill>
            <a:srgbClr val="253483"/>
          </a:solidFill>
          <a:ln w="12700">
            <a:solidFill>
              <a:srgbClr val="3E5294"/>
            </a:solidFill>
            <a:prstDash val="solid"/>
          </a:ln>
          <a:effectLst>
            <a:outerShdw sx="100000" sy="100000" kx="0" ky="0" algn="bl" rotWithShape="0" blurRad="127000" dist="25400" dir="8100000">
              <a:srgbClr val="1E2761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1908" y="2487168"/>
            <a:ext cx="2606040" cy="38404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3348" y="2487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 Week 5–6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1636" y="294436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 Sign-Off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1636" y="3310128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presented: incidents resolved, MTTR improvement, engineer time saved. Decision point for Phase 1 expansion.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7091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AutoOpsAI  |  The Autonomous DevOps Engineer  |  Confidential  |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AutoOpsAI — The Autonomous DevOps Engineer</dc:title>
  <dc:subject>Business Sign-off Presentation</dc:subject>
  <dc:creator>AutoOpsAI Team</dc:creator>
  <cp:lastModifiedBy>AutoOpsAI Team</cp:lastModifiedBy>
  <cp:revision>1</cp:revision>
  <dcterms:created xsi:type="dcterms:W3CDTF">2026-03-31T11:46:28Z</dcterms:created>
  <dcterms:modified xsi:type="dcterms:W3CDTF">2026-03-31T11:46:28Z</dcterms:modified>
</cp:coreProperties>
</file>