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AutoOps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9BFF"/>
                </a:solidFill>
                <a:latin typeface="Segoe UI"/>
              </a:defRPr>
            </a:pPr>
            <a:r>
              <a:t>Your Virtual DevOps Engineer That Never Sleeps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Segoe UI"/>
              </a:defRPr>
            </a:pPr>
            <a:r>
              <a:t>AI-powered infrastructure monitoring, diagnosis, and remediation</a:t>
            </a:r>
            <a:br/>
            <a:r>
              <a:t>with human-in-the-loop approval — fully air-gapped, zero cloud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1426464" cy="32004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100% Local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9172" y="5029200"/>
            <a:ext cx="1207007" cy="320040"/>
          </a:xfrm>
          <a:prstGeom prst="round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Open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77056" y="5029200"/>
            <a:ext cx="1097280" cy="3200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Air-Gapped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57216" y="5029200"/>
            <a:ext cx="1865376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Human-in-the-Loop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Hackathon 2026  |  Intelligent Operations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D4D"/>
                </a:solidFill>
                <a:latin typeface="Segoe UI"/>
              </a:defRPr>
            </a:pPr>
            <a:r>
              <a:t>When production breaks at 2 AM...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7772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2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🔍  Dig through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Engineers scramble across Grafana, logs, and alerts to find what broke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515600" cy="7772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2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📖  Cross-reference runbooks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Manually search past incidents and documentation for the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515600" cy="7772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2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🤝  Get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758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Wake up another engineer to approve changes to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10515600" cy="7772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2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⚙️  Execute manually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445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Type commands by hand in a high-stress, error-prone situation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515600" cy="7772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2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 Verify the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Run more manual checks hoping nothing else broke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035040"/>
            <a:ext cx="10515600" cy="640080"/>
          </a:xfrm>
          <a:prstGeom prst="roundRect">
            <a:avLst/>
          </a:prstGeom>
          <a:solidFill>
            <a:srgbClr val="1A0A0A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080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D4D"/>
                </a:solidFill>
                <a:latin typeface="Segoe UI"/>
              </a:defRPr>
            </a:pPr>
            <a:r>
              <a:t>⏱  Average MTTR: 45-90 minutes  |  80% of incidents follow known patterns  |  $14.95B market (2025) growing 25.7% CAGR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Solution: AutoOps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BFF"/>
                </a:solidFill>
                <a:latin typeface="Segoe UI"/>
              </a:defRPr>
            </a:pPr>
            <a:r>
              <a:t>A virtual DevOps engineer that monitors, diagnoses, explains, and fixes — with you in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69164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BFF"/>
                </a:solidFill>
                <a:latin typeface="Segoe UI"/>
              </a:defRPr>
            </a:pPr>
            <a:r>
              <a:t>🔎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Real-time monitoring</a:t>
            </a:r>
            <a:br/>
            <a:r>
              <a:t>15s polling cycle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94560" y="2651760"/>
            <a:ext cx="201168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04872" y="1828800"/>
            <a:ext cx="169164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19659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🧠 DIAGNOSE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46888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Playbook + LLM</a:t>
            </a:r>
            <a:br/>
            <a:r>
              <a:t>hybrid reasoning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42232" y="2651760"/>
            <a:ext cx="201168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2544" y="1828800"/>
            <a:ext cx="169164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19659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📊 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6888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Risk assessment</a:t>
            </a:r>
            <a:br/>
            <a:r>
              <a:t>LOW / MED / HIGH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89904" y="2651760"/>
            <a:ext cx="201168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0216" y="1828800"/>
            <a:ext cx="169164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19659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✋ 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46888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Human-in-the-loop</a:t>
            </a:r>
            <a:br/>
            <a:r>
              <a:t>tiered autonomy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037576" y="2651760"/>
            <a:ext cx="201168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47888" y="1828800"/>
            <a:ext cx="169164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19659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BFF"/>
                </a:solidFill>
                <a:latin typeface="Segoe UI"/>
              </a:defRPr>
            </a:pPr>
            <a:r>
              <a:t>⚡ 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46888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Automated fix</a:t>
            </a:r>
            <a:br/>
            <a:r>
              <a:t>via provider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1828800"/>
            <a:ext cx="169164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0" y="19659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✅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246888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Outcome validation</a:t>
            </a:r>
            <a:br/>
            <a:r>
              <a:t>+ audit trail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89120"/>
            <a:ext cx="10515600" cy="2194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Segoe UI"/>
              </a:defRPr>
            </a:pPr>
            <a:r>
              <a:t>What Makes Us Different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🗣️  Conversational-First — the agent explains in plain English, no dashboard diving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🛡️  Tiered Autonomy — LOW auto-executes, MEDIUM/HIGH require human approval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📚  Playbook + LLM Hybrid — structured knowledge for known issues, AI for novel ones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🔒  100% Air-Gapped — all LLM inference local via Ollama, zero data leaves your network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🔌  Provider-Agnostic — Docker, Kubernetes, ECS, bare-metal via single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37744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BFF"/>
                </a:solidFill>
                <a:latin typeface="Segoe UI"/>
              </a:defRPr>
            </a:pPr>
            <a:r>
              <a:t>Metrics Collector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Prometheus + Loki</a:t>
            </a:r>
            <a:br/>
            <a:r>
              <a:t>15s polling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37744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325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Agent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783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Anomaly Detection</a:t>
            </a:r>
            <a:br/>
            <a:r>
              <a:t>Diagnosis +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188720"/>
            <a:ext cx="237744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325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783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8 YAML Playbooks</a:t>
            </a:r>
            <a:br/>
            <a:r>
              <a:t>Pattern Matching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188720"/>
            <a:ext cx="237744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325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LLM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1783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Ollama Local</a:t>
            </a:r>
            <a:br/>
            <a:r>
              <a:t>qwen3:4b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08960"/>
            <a:ext cx="237744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Approval 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03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Risk-Based Routing</a:t>
            </a:r>
            <a:br/>
            <a:r>
              <a:t>Dashboard Cards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108960"/>
            <a:ext cx="237744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D4D"/>
                </a:solidFill>
                <a:latin typeface="Segoe UI"/>
              </a:defRPr>
            </a:pPr>
            <a:r>
              <a:t>Remediation Executor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703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Provider API</a:t>
            </a:r>
            <a:br/>
            <a:r>
              <a:t>Verify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108960"/>
            <a:ext cx="237744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BFF"/>
                </a:solidFill>
                <a:latin typeface="Segoe UI"/>
              </a:defRPr>
            </a:pPr>
            <a:r>
              <a:t>Dashboard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703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Real-time WebSocket</a:t>
            </a:r>
            <a:br/>
            <a:r>
              <a:t>Chat + Timeline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3108960"/>
            <a:ext cx="237744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Observability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703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Prometheus + Loki</a:t>
            </a:r>
            <a:br/>
            <a:r>
              <a:t>Grafana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10607040" cy="731520"/>
          </a:xfrm>
          <a:prstGeom prst="roundRect">
            <a:avLst/>
          </a:prstGeom>
          <a:solidFill>
            <a:srgbClr val="0A1A2F"/>
          </a:solidFill>
          <a:ln w="19050">
            <a:solidFill>
              <a:srgbClr val="00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074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BFF"/>
                </a:solidFill>
                <a:latin typeface="Segoe UI"/>
              </a:defRPr>
            </a:pPr>
            <a:r>
              <a:t>🔌  Infrastructure Provider Interface  →  Docker Compose  |  Kubernetes  |  ECS  |  Bare Metal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Python 3.12+  •  FastAPI  •  MongoDB + Beanie  •  Ollama (qwen3:4b)  •  Prometheus  •  Loki  •  Grafana  •  Docker  •  WebSocket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Tiered Autonomy — The Trust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Segoe UI"/>
              </a:defRPr>
            </a:pPr>
            <a:r>
              <a:t>The right level of automation for every situation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13258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1645920" cy="32004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LOW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64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Cache clear, log rotation, temp cleanup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642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Auto-Execute + Notify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Agent acts immediately. You get a notification after it's done.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515600" cy="13258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246120"/>
            <a:ext cx="1645920" cy="3200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MEDIUM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218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Service restart, scale up replicas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218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Approval Card — 5 min timeout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Agent explains the issue and proposed fix. You approve or deny in the dashboard. Defaults to deny on timeout.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10515600" cy="13258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800600"/>
            <a:ext cx="1645920" cy="320040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HIGH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773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Database restart, failover, scale 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731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D4D"/>
                </a:solidFill>
                <a:latin typeface="Segoe UI"/>
              </a:defRPr>
            </a:pPr>
            <a:r>
              <a:t>Approval Card — No timeout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Agent presents full context with rollback plan. Requires explicit human approval. No auto-execution ever.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BFF"/>
                </a:solidFill>
                <a:latin typeface="Segoe UI"/>
              </a:defRPr>
            </a:pPr>
            <a:r>
              <a:t>"AutoOps AI is the smart middle ground — not fully autonomous like Shoreline, not fully manual like PagerDuty"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Live Demo — 3 Scenarios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15568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D4D"/>
                </a:solidFill>
                <a:latin typeface="Segoe UI"/>
              </a:defRPr>
            </a:pPr>
            <a:r>
              <a:t>Scenario 1: MongoDB Crash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207008"/>
            <a:ext cx="1097280" cy="320040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Chaos script kills MongoDB container  →  Agent detects within 15 seconds — Flask returns 500s  →  Agent posts approval card: diagnosis + fix + rollback plan  →  Human approves → Agent restarts MongoDB → Verifies replica set health  →  Incident resolved in ~47 seconds with full audit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88920"/>
            <a:ext cx="1115568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Scenario 2: Redis Memory Full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2898648"/>
            <a:ext cx="1097280" cy="32004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Redis memory hits 95% capacity  →  Agent detects via Prometheus metrics  →  LOW risk — Agent auto-executes cache eviction, no approval needed  →  Memory drops to 42% — notification sent to dashboard  →  Zero human intervention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1115568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Scenario 3: CPU Spike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4590288"/>
            <a:ext cx="1097280" cy="3200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Container CPU stuck above 90% for 2+ minutes  →  Agent diagnoses: possible resource leak or runaway process  →  MEDIUM risk — Approval card with 5-min timeout  →  Collects diagnostics, restarts container on approval  →  Verifies CPU back to normal levels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Competitive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155680" cy="502920"/>
          </a:xfrm>
          <a:prstGeom prst="round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0B8C8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143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0B8C8"/>
                </a:solidFill>
                <a:latin typeface="Segoe UI"/>
              </a:defRPr>
            </a:pPr>
            <a:r>
              <a:t>PagerDuty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43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0B8C8"/>
                </a:solidFill>
                <a:latin typeface="Segoe UI"/>
              </a:defRPr>
            </a:pPr>
            <a:r>
              <a:t>Dynatrace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143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0B8C8"/>
                </a:solidFill>
                <a:latin typeface="Segoe UI"/>
              </a:defRPr>
            </a:pPr>
            <a:r>
              <a:t>StackStorm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143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0B8C8"/>
                </a:solidFill>
                <a:latin typeface="Segoe UI"/>
              </a:defRPr>
            </a:pPr>
            <a:r>
              <a:t>Shoreline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143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BFF"/>
                </a:solidFill>
                <a:latin typeface="Segoe UI"/>
              </a:defRPr>
            </a:pPr>
            <a:r>
              <a:t>AutoOps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155680" cy="4572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AI-Powered Diagnosis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167128"/>
            <a:ext cx="111556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Conversational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2128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2128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2128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128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8C00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2128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642616"/>
            <a:ext cx="11155680" cy="4572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6883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Human Approval Gates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6883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8C00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6883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6883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6883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6883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118104"/>
            <a:ext cx="111556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1638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Tiered Risk Autonomy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1638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1638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1638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1638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1638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593592"/>
            <a:ext cx="11155680" cy="4572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6393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Air-Gapped / Local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3639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N/A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3639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639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N/A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639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6393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069080"/>
            <a:ext cx="111556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Playbook + LLM Hybrid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8C00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544568"/>
            <a:ext cx="11155680" cy="4572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Provider-Agnostic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45902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0" y="45902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45902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5902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8C00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45902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020056"/>
            <a:ext cx="111556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065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Segoe UI"/>
              </a:defRPr>
            </a:pPr>
            <a:r>
              <a:t>Open Source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50657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3520" y="50657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60" y="50657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50657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0" y="50657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AutoOps AI is the only platform combining all six capabilities in a single, air-gapped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65176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BFF"/>
                </a:solidFill>
                <a:latin typeface="Segoe UI"/>
              </a:defRPr>
            </a:pPr>
            <a:r>
              <a:t>Core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2377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Python 3.12+ — Async-first, rich DevOps ecosystem</a:t>
            </a:r>
          </a:p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FastAPI + Uvicorn — Async REST + WebSocket, auto OpenAPI docs</a:t>
            </a:r>
          </a:p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MongoDB + Motor + Beanie — Async ODM for incidents, approvals, audit</a:t>
            </a:r>
          </a:p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uv — Fast dependency resolution + virtual env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097280"/>
            <a:ext cx="265176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AI /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691640"/>
            <a:ext cx="2377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Ollama — Air-gapped local inference, zero data leaves network</a:t>
            </a:r>
          </a:p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qwen3:4b (primary) + mistral:7b (fallback)</a:t>
            </a:r>
          </a:p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JSON structured output for reliable parsing</a:t>
            </a:r>
          </a:p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YAML playbooks — version-controlled remediation runbooks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265176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Observability (PLG Stack)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91640"/>
            <a:ext cx="2377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Prometheus + cAdvisor — Per-container metrics telemetry</a:t>
            </a:r>
          </a:p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Loki + Promtail — Label-indexed log aggregation</a:t>
            </a:r>
          </a:p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Grafana — Unified metrics + logs UI with auto-provisioned dashboards</a:t>
            </a:r>
          </a:p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Agent self-monitoring via /metrics endpoint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097280"/>
            <a:ext cx="265176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Frontend &amp;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691640"/>
            <a:ext cx="2377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Dark ops-console dashboard — real-time WebSocket events</a:t>
            </a:r>
          </a:p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Vanilla HTML/CSS/JS SPA — zero build step, served by FastAPI</a:t>
            </a:r>
          </a:p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Docker Compose for infrastructure orchestration</a:t>
            </a:r>
          </a:p>
          <a:p>
            <a:pPr>
              <a:spcAft>
                <a:spcPts val="800"/>
              </a:spcAft>
              <a:defRPr sz="10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236 unit tests, Ruff lint — zero warnings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How It Works — End to 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07008"/>
            <a:ext cx="640080" cy="32004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143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Healthy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463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Dashboard shows all services green</a:t>
            </a:r>
            <a:br/>
            <a:r>
              <a:t>Nginx + App + MongoDB + Redis running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95728"/>
            <a:ext cx="640080" cy="320040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0:15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4D"/>
                </a:solidFill>
                <a:latin typeface="Segoe UI"/>
              </a:defRPr>
            </a:pPr>
            <a:r>
              <a:t>Chaos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MongoDB container killed via chaos script</a:t>
            </a:r>
            <a:br/>
            <a:r>
              <a:t>Simulates production failure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84448"/>
            <a:ext cx="640080" cy="3200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Agent Detects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840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Anomaly detected in next 15s poll cycle</a:t>
            </a:r>
            <a:br/>
            <a:r>
              <a:t>Flask app returning 500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73168"/>
            <a:ext cx="64008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0:45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AI Diagnosis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Playbook match + LLM explains in plain English</a:t>
            </a:r>
            <a:br/>
            <a:r>
              <a:t>Risk classified as 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07008"/>
            <a:ext cx="640080" cy="320040"/>
          </a:xfrm>
          <a:prstGeom prst="round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143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BFF"/>
                </a:solidFill>
                <a:latin typeface="Segoe UI"/>
              </a:defRPr>
            </a:pPr>
            <a:r>
              <a:t>Approval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463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Rich card in dashboard chat window</a:t>
            </a:r>
            <a:br/>
            <a:r>
              <a:t>Diagnosis + fix + rollback plan shown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395728"/>
            <a:ext cx="640080" cy="32004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Human Approves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651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Engineer clicks Approve button</a:t>
            </a:r>
            <a:br/>
            <a:r>
              <a:t>Full audit trail captured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584448"/>
            <a:ext cx="640080" cy="320040"/>
          </a:xfrm>
          <a:prstGeom prst="round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BFF"/>
                </a:solidFill>
                <a:latin typeface="Segoe UI"/>
              </a:defRPr>
            </a:pPr>
            <a:r>
              <a:t>Auto-Remediate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840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Agent restarts MongoDB container</a:t>
            </a:r>
            <a:br/>
            <a:r>
              <a:t>Waits for health check to pass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773168"/>
            <a:ext cx="640080" cy="32004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1:45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Verified &amp; Logged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Stack healthy — incident resolved in &lt;2 min</a:t>
            </a:r>
            <a:br/>
            <a:r>
              <a:t>Audit log + notification sent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Market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65176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BFF"/>
                </a:solidFill>
                <a:latin typeface="Segoe UI"/>
              </a:defRPr>
            </a:pPr>
            <a:r>
              <a:t>$14.95B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Market Size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Incident Response</a:t>
            </a:r>
            <a:br/>
            <a:r>
              <a:t>&amp; AIOps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65176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371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676"/>
                </a:solidFill>
                <a:latin typeface="Segoe UI"/>
              </a:defRPr>
            </a:pPr>
            <a:r>
              <a:t>25.7%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011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CAGR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774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Projected to $37.33B</a:t>
            </a:r>
            <a:br/>
            <a:r>
              <a:t>by 2029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265176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71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8C00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Repeat Incidents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3774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Follow known patterns</a:t>
            </a:r>
            <a:br/>
            <a:r>
              <a:t>that can be automated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188720"/>
            <a:ext cx="265176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371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D4D"/>
                </a:solidFill>
                <a:latin typeface="Segoe UI"/>
              </a:defRPr>
            </a:pPr>
            <a:r>
              <a:t>45-90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011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Avg MTTR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3774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Current manual incident</a:t>
            </a:r>
            <a:br/>
            <a:r>
              <a:t>resolution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Target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DevOps / SRE teams managing microservices infrastructure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Organizations requiring air-gapped operations (government, finance, healthcare)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Teams drowning in alert fatigue with 100+ daily alerts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Companies seeking to reduce MTTR without sacrificing safety controls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We've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Phase 4 Complete — All Core Components Running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5486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Metrics Collector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44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Prometheus + Loki polling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44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✅ Running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486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44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Anomaly Detection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444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Threshold +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1444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✅ Running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57400"/>
            <a:ext cx="5394960" cy="5486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30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305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8 YAML playbooks loaded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305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✅ Loaded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57400"/>
            <a:ext cx="5394960" cy="5486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130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Ollama LLM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1305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qwen3:4b connected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1305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✅ Connected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5394960" cy="5486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16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Risk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816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LOW / MEDIUM /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816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✅ Active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743200"/>
            <a:ext cx="5394960" cy="5486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816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Approval Router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816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Auto / Card / Timeout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2816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✅ Active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429000"/>
            <a:ext cx="5394960" cy="5486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5021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Remediation Executor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502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Docker provider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5021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✅ Active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429000"/>
            <a:ext cx="5394960" cy="5486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5021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MongoDB Incident 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502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Full persistence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35021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✅ Connected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114800"/>
            <a:ext cx="5394960" cy="5486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187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REST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1879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12 endpoints serving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1879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✅ Serving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114800"/>
            <a:ext cx="5394960" cy="5486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4187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WebSocket Events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1879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Live broadcasting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41879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✅ Broadcasting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800600"/>
            <a:ext cx="5394960" cy="5486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873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Dashboard UI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4873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Dark ops-console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4873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✅ Serving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800600"/>
            <a:ext cx="5394960" cy="5486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4873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Test Suite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873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236 unit tests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4873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✅ All Green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577840"/>
            <a:ext cx="11155680" cy="5486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623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BFF"/>
                </a:solidFill>
                <a:latin typeface="Segoe UI"/>
              </a:defRPr>
            </a:pPr>
            <a:r>
              <a:t>236 Tests Passing  •  Ruff Lint Zero Warnings  •  Graceful Degradation  •  Full Audit Trail  •  12 REST Endpoints  •  WebSocket Live Events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Roadmap &amp; Future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15568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NOW — Phase 4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Full detection → diagnosis → approval → remediation → verify loop</a:t>
            </a:r>
          </a:p>
          <a:p>
            <a:pPr>
              <a:spcAft>
                <a:spcPts val="800"/>
              </a:spcAft>
              <a:defRPr sz="13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Docker Compose provider, Ollama LLM, MongoDB persistence</a:t>
            </a:r>
          </a:p>
          <a:p>
            <a:pPr>
              <a:spcAft>
                <a:spcPts val="800"/>
              </a:spcAft>
              <a:defRPr sz="13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Dark ops-console dashboard with real-time WebSocket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88920"/>
            <a:ext cx="1115568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BFF"/>
                </a:solidFill>
                <a:latin typeface="Segoe UI"/>
              </a:defRPr>
            </a:pPr>
            <a:r>
              <a:t>NEXT — Phase 5-6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Kubernetes provider via same abstraction interface</a:t>
            </a:r>
          </a:p>
          <a:p>
            <a:pPr>
              <a:spcAft>
                <a:spcPts val="800"/>
              </a:spcAft>
              <a:defRPr sz="13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Learning loop — resolved incidents fed back to playbook</a:t>
            </a:r>
          </a:p>
          <a:p>
            <a:pPr>
              <a:spcAft>
                <a:spcPts val="800"/>
              </a:spcAft>
              <a:defRPr sz="13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MS Teams Adaptive Cards for enterprise approval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80560"/>
            <a:ext cx="1115568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FUTURE — Phase 7+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Predictive analysis — detect failures before they happen</a:t>
            </a:r>
          </a:p>
          <a:p>
            <a:pPr>
              <a:spcAft>
                <a:spcPts val="800"/>
              </a:spcAft>
              <a:defRPr sz="13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Multi-cluster / multi-cloud management</a:t>
            </a:r>
          </a:p>
          <a:p>
            <a:pPr>
              <a:spcAft>
                <a:spcPts val="800"/>
              </a:spcAft>
              <a:defRPr sz="13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JWT + RBAC authentication, SSO integration</a:t>
            </a:r>
          </a:p>
          <a:p>
            <a:pPr>
              <a:spcAft>
                <a:spcPts val="800"/>
              </a:spcAft>
              <a:defRPr sz="1300">
                <a:solidFill>
                  <a:srgbClr val="B0B8C8"/>
                </a:solidFill>
                <a:latin typeface="Segoe UI"/>
              </a:defRPr>
              <a:buChar char="▸"/>
              <a:buClr>
                <a:srgbClr val="009BFF"/>
              </a:buClr>
            </a:pPr>
            <a:r>
              <a:t>Incident correlation across services (blast radius analysis)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217920"/>
            <a:ext cx="11155680" cy="457200"/>
          </a:xfrm>
          <a:prstGeom prst="roundRect">
            <a:avLst/>
          </a:prstGeom>
          <a:solidFill>
            <a:srgbClr val="0A1A2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2362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Vision: Every ops team has a virtual DevOps engineer — always watching, always explaining, never acting without permission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AutoOps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FF"/>
                </a:solidFill>
                <a:latin typeface="Segoe UI"/>
              </a:defRPr>
            </a:pPr>
            <a:r>
              <a:t>Your Virtual DevOps Engineer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291840"/>
            <a:ext cx="292608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BFF"/>
                </a:solidFill>
                <a:latin typeface="Segoe UI"/>
              </a:defRPr>
            </a:pPr>
            <a:r>
              <a:t>🗣️  Conversational-First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The agent explains —</a:t>
            </a:r>
            <a:br/>
            <a:r>
              <a:t>you 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291840"/>
            <a:ext cx="292608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🛡️  Tiered Autonomy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Safe automation with</a:t>
            </a:r>
            <a:br/>
            <a:r>
              <a:t>human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291840"/>
            <a:ext cx="292608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🔒  Fully Air-Gapped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Zero data leaves</a:t>
            </a:r>
            <a:br/>
            <a:r>
              <a:t>your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"Monitors. Diagnoses. Explains. Fixes. Learns. — All with you in control."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BFF"/>
                </a:solidFill>
                <a:latin typeface="Segoe UI"/>
              </a:defRPr>
            </a:pPr>
            <a:r>
              <a:t>Thank You  |  Questions?  |  Live Demo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